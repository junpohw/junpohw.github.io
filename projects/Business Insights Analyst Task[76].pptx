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4"/>
  </p:notesMasterIdLst>
  <p:handoutMasterIdLst>
    <p:handoutMasterId r:id="rId15"/>
  </p:handoutMasterIdLst>
  <p:sldIdLst>
    <p:sldId id="256" r:id="rId2"/>
    <p:sldId id="283" r:id="rId3"/>
    <p:sldId id="293" r:id="rId4"/>
    <p:sldId id="284" r:id="rId5"/>
    <p:sldId id="294" r:id="rId6"/>
    <p:sldId id="285" r:id="rId7"/>
    <p:sldId id="289" r:id="rId8"/>
    <p:sldId id="295" r:id="rId9"/>
    <p:sldId id="296" r:id="rId10"/>
    <p:sldId id="297" r:id="rId11"/>
    <p:sldId id="292" r:id="rId12"/>
    <p:sldId id="28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462F"/>
    <a:srgbClr val="D24726"/>
    <a:srgbClr val="404040"/>
    <a:srgbClr val="FF9B45"/>
    <a:srgbClr val="F8CFB6"/>
    <a:srgbClr val="F8CAB6"/>
    <a:srgbClr val="923922"/>
    <a:srgbClr val="F5F5F5"/>
    <a:srgbClr val="F2F2F2"/>
    <a:srgbClr val="D2B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94218" autoAdjust="0"/>
  </p:normalViewPr>
  <p:slideViewPr>
    <p:cSldViewPr snapToGrid="0">
      <p:cViewPr>
        <p:scale>
          <a:sx n="111" d="100"/>
          <a:sy n="111" d="100"/>
        </p:scale>
        <p:origin x="1216" y="400"/>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11/25/22</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11/25/22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dirty="0"/>
          </a:p>
        </p:txBody>
      </p:sp>
    </p:spTree>
    <p:extLst>
      <p:ext uri="{BB962C8B-B14F-4D97-AF65-F5344CB8AC3E}">
        <p14:creationId xmlns:p14="http://schemas.microsoft.com/office/powerpoint/2010/main" val="1011769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521207" y="448056"/>
            <a:ext cx="6877119" cy="640080"/>
          </a:xfrm>
        </p:spPr>
        <p:txBody>
          <a:bodyPr anchor="b" anchorCtr="0">
            <a:normAutofit/>
          </a:bodyPr>
          <a:lstStyle>
            <a:lvl1pPr>
              <a:defRPr sz="28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
        <p:nvSpPr>
          <p:cNvPr id="6"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11/25/22</a:t>
            </a:fld>
            <a:endParaRPr lang="en-US" dirty="0"/>
          </a:p>
        </p:txBody>
      </p:sp>
      <p:sp>
        <p:nvSpPr>
          <p:cNvPr id="7"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8" name="Slide Number Placeholder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13356555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p:cNvSpPr>
            <a:spLocks noGrp="1"/>
          </p:cNvSpPr>
          <p:nvPr>
            <p:ph type="title"/>
          </p:nvPr>
        </p:nvSpPr>
        <p:spPr>
          <a:xfrm>
            <a:off x="521208" y="448056"/>
            <a:ext cx="6876288" cy="640080"/>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539496" y="1435608"/>
            <a:ext cx="4416552" cy="39776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11/25/22</a:t>
            </a:fld>
            <a:endParaRPr lang="en-US" dirty="0"/>
          </a:p>
        </p:txBody>
      </p:sp>
      <p:sp>
        <p:nvSpPr>
          <p:cNvPr id="5"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375904"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cxnSp>
        <p:nvCxnSpPr>
          <p:cNvPr id="8" name="Straight Connector 7"/>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en-US" sz="1200" kern="1200" dirty="0">
          <a:solidFill>
            <a:schemeClr val="tx1"/>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164324"/>
            <a:ext cx="10515600" cy="2387600"/>
          </a:xfrm>
        </p:spPr>
        <p:txBody>
          <a:bodyPr anchor="ctr" anchorCtr="0">
            <a:normAutofit/>
          </a:bodyPr>
          <a:lstStyle/>
          <a:p>
            <a:r>
              <a:rPr lang="en-US" sz="4800" dirty="0">
                <a:solidFill>
                  <a:schemeClr val="bg1"/>
                </a:solidFill>
              </a:rPr>
              <a:t>McDonald’s </a:t>
            </a:r>
            <a:r>
              <a:rPr lang="en-US" sz="4800" dirty="0" err="1">
                <a:solidFill>
                  <a:schemeClr val="bg1"/>
                </a:solidFill>
              </a:rPr>
              <a:t>Corperation</a:t>
            </a:r>
            <a:endParaRPr lang="en-US" sz="4800" dirty="0">
              <a:solidFill>
                <a:schemeClr val="bg1"/>
              </a:solidFill>
            </a:endParaRPr>
          </a:p>
        </p:txBody>
      </p:sp>
      <p:sp>
        <p:nvSpPr>
          <p:cNvPr id="3" name="Subtitle 2"/>
          <p:cNvSpPr>
            <a:spLocks noGrp="1"/>
          </p:cNvSpPr>
          <p:nvPr>
            <p:ph type="subTitle" idx="4294967295"/>
          </p:nvPr>
        </p:nvSpPr>
        <p:spPr>
          <a:xfrm>
            <a:off x="855620" y="2933105"/>
            <a:ext cx="9582736" cy="1137793"/>
          </a:xfrm>
        </p:spPr>
        <p:txBody>
          <a:bodyPr>
            <a:normAutofit/>
          </a:bodyPr>
          <a:lstStyle/>
          <a:p>
            <a:pPr marL="0" indent="0">
              <a:buNone/>
            </a:pPr>
            <a:r>
              <a:rPr lang="en-US" sz="2400" dirty="0">
                <a:solidFill>
                  <a:schemeClr val="bg1"/>
                </a:solidFill>
                <a:latin typeface="+mj-lt"/>
              </a:rPr>
              <a:t>Task for Business Insights Analyst</a:t>
            </a:r>
          </a:p>
          <a:p>
            <a:pPr marL="0" indent="0">
              <a:buNone/>
            </a:pPr>
            <a:endParaRPr lang="en-US" sz="2400" dirty="0">
              <a:solidFill>
                <a:schemeClr val="bg1"/>
              </a:solidFill>
              <a:latin typeface="+mj-lt"/>
            </a:endParaRPr>
          </a:p>
        </p:txBody>
      </p:sp>
      <p:sp>
        <p:nvSpPr>
          <p:cNvPr id="6" name="Subtitle 2">
            <a:extLst>
              <a:ext uri="{FF2B5EF4-FFF2-40B4-BE49-F238E27FC236}">
                <a16:creationId xmlns:a16="http://schemas.microsoft.com/office/drawing/2014/main" id="{E5B83D7F-30F6-F612-8A54-0D19651C28B5}"/>
              </a:ext>
            </a:extLst>
          </p:cNvPr>
          <p:cNvSpPr txBox="1">
            <a:spLocks/>
          </p:cNvSpPr>
          <p:nvPr/>
        </p:nvSpPr>
        <p:spPr>
          <a:xfrm>
            <a:off x="838200" y="4327709"/>
            <a:ext cx="9582736" cy="1137793"/>
          </a:xfrm>
          <a:prstGeom prst="rect">
            <a:avLst/>
          </a:prstGeom>
        </p:spPr>
        <p:txBody>
          <a:bodyPr vert="horz" lIns="91440" tIns="45720" rIns="91440" bIns="45720" rtlCol="0">
            <a:normAutofit lnSpcReduction="10000"/>
          </a:bodyPr>
          <a:lstStyle>
            <a:lvl1pPr marL="0" indent="0" algn="l" defTabSz="914400" rtl="0" eaLnBrk="1" latinLnBrk="0" hangingPunct="1">
              <a:lnSpc>
                <a:spcPct val="150000"/>
              </a:lnSpc>
              <a:spcBef>
                <a:spcPts val="1000"/>
              </a:spcBef>
              <a:spcAft>
                <a:spcPts val="1200"/>
              </a:spcAft>
              <a:buFontTx/>
              <a:buNone/>
              <a:defRPr lang="en-US" sz="1200" kern="1200" dirty="0">
                <a:solidFill>
                  <a:schemeClr val="tx1"/>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a:lstStyle>
          <a:p>
            <a:r>
              <a:rPr lang="en-AU" sz="1400" dirty="0">
                <a:solidFill>
                  <a:schemeClr val="bg1"/>
                </a:solidFill>
                <a:latin typeface="+mj-lt"/>
              </a:rPr>
              <a:t>Applicant Name : Jun Poh</a:t>
            </a:r>
          </a:p>
          <a:p>
            <a:r>
              <a:rPr lang="en-AU" sz="1400" dirty="0">
                <a:solidFill>
                  <a:schemeClr val="bg1"/>
                </a:solidFill>
                <a:latin typeface="+mj-lt"/>
              </a:rPr>
              <a:t>Date : 25/11/2022</a:t>
            </a:r>
          </a:p>
          <a:p>
            <a:endParaRPr lang="en-AU" sz="2400" dirty="0">
              <a:solidFill>
                <a:schemeClr val="bg1"/>
              </a:solidFill>
              <a:latin typeface="+mj-lt"/>
            </a:endParaRPr>
          </a:p>
        </p:txBody>
      </p:sp>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DB6CB-9E66-CD89-C7BC-6964AF06378B}"/>
              </a:ext>
            </a:extLst>
          </p:cNvPr>
          <p:cNvSpPr>
            <a:spLocks noGrp="1"/>
          </p:cNvSpPr>
          <p:nvPr>
            <p:ph type="title"/>
          </p:nvPr>
        </p:nvSpPr>
        <p:spPr/>
        <p:txBody>
          <a:bodyPr/>
          <a:lstStyle/>
          <a:p>
            <a:r>
              <a:rPr lang="en-GB" dirty="0"/>
              <a:t>Objective</a:t>
            </a:r>
            <a:endParaRPr lang="en-AU" dirty="0"/>
          </a:p>
        </p:txBody>
      </p:sp>
      <p:sp>
        <p:nvSpPr>
          <p:cNvPr id="3" name="Content Placeholder 2">
            <a:extLst>
              <a:ext uri="{FF2B5EF4-FFF2-40B4-BE49-F238E27FC236}">
                <a16:creationId xmlns:a16="http://schemas.microsoft.com/office/drawing/2014/main" id="{06730B5D-3CCD-FFB1-2F27-DF705B938975}"/>
              </a:ext>
            </a:extLst>
          </p:cNvPr>
          <p:cNvSpPr>
            <a:spLocks noGrp="1"/>
          </p:cNvSpPr>
          <p:nvPr>
            <p:ph sz="quarter" idx="10"/>
          </p:nvPr>
        </p:nvSpPr>
        <p:spPr>
          <a:xfrm>
            <a:off x="539496" y="1435608"/>
            <a:ext cx="10942262" cy="3060192"/>
          </a:xfrm>
        </p:spPr>
        <p:txBody>
          <a:bodyPr>
            <a:normAutofit/>
          </a:bodyPr>
          <a:lstStyle/>
          <a:p>
            <a:r>
              <a:rPr lang="en-GB" dirty="0"/>
              <a:t>Key Stake Holders : Head of Consumer Insights / Head of Business Insights and Analytics</a:t>
            </a:r>
          </a:p>
          <a:p>
            <a:r>
              <a:rPr lang="en-GB" dirty="0"/>
              <a:t>Scenario : </a:t>
            </a:r>
            <a:r>
              <a:rPr lang="en-GB" i="1" dirty="0"/>
              <a:t>Bank X is McDonalds POS terminal service provider. Bank X had a network outage on 15/4/2022 between 9.15pm – 4 am which might have impacted total sales. The business wants to understand the potential impact on total sales caused by the network outage. </a:t>
            </a:r>
          </a:p>
          <a:p>
            <a:r>
              <a:rPr lang="en-GB" dirty="0"/>
              <a:t>Task : </a:t>
            </a:r>
            <a:r>
              <a:rPr lang="en-GB" i="1" dirty="0"/>
              <a:t>Investigate the sales data, to identify estimated impact on sales during network outages, and present insights that could be of interest to the business. </a:t>
            </a:r>
          </a:p>
          <a:p>
            <a:r>
              <a:rPr lang="en-GB" dirty="0"/>
              <a:t>Datasets Range : </a:t>
            </a:r>
            <a:r>
              <a:rPr lang="en-GB" i="1" dirty="0"/>
              <a:t>2 Data tables is provided for the whole month of April from 1</a:t>
            </a:r>
            <a:r>
              <a:rPr lang="en-GB" i="1" baseline="30000" dirty="0"/>
              <a:t>st</a:t>
            </a:r>
            <a:r>
              <a:rPr lang="en-GB" i="1" dirty="0"/>
              <a:t> of April to 26</a:t>
            </a:r>
            <a:r>
              <a:rPr lang="en-GB" i="1" baseline="30000" dirty="0"/>
              <a:t>th</a:t>
            </a:r>
            <a:r>
              <a:rPr lang="en-GB" i="1" dirty="0"/>
              <a:t> of April 2022</a:t>
            </a:r>
          </a:p>
          <a:p>
            <a:r>
              <a:rPr lang="en-GB" dirty="0"/>
              <a:t>Tools Used : </a:t>
            </a:r>
            <a:r>
              <a:rPr lang="en-GB" i="1" dirty="0"/>
              <a:t>Microsoft </a:t>
            </a:r>
            <a:r>
              <a:rPr lang="en-GB" i="1" dirty="0" err="1"/>
              <a:t>PowerBI</a:t>
            </a:r>
            <a:r>
              <a:rPr lang="en-GB" i="1" dirty="0"/>
              <a:t> </a:t>
            </a:r>
          </a:p>
        </p:txBody>
      </p:sp>
    </p:spTree>
    <p:extLst>
      <p:ext uri="{BB962C8B-B14F-4D97-AF65-F5344CB8AC3E}">
        <p14:creationId xmlns:p14="http://schemas.microsoft.com/office/powerpoint/2010/main" val="3730813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DD984-1A95-72FF-91D2-095967A02B78}"/>
              </a:ext>
            </a:extLst>
          </p:cNvPr>
          <p:cNvSpPr>
            <a:spLocks noGrp="1"/>
          </p:cNvSpPr>
          <p:nvPr>
            <p:ph type="title"/>
          </p:nvPr>
        </p:nvSpPr>
        <p:spPr/>
        <p:txBody>
          <a:bodyPr/>
          <a:lstStyle/>
          <a:p>
            <a:r>
              <a:rPr lang="en-GB" dirty="0"/>
              <a:t>Data Provided</a:t>
            </a:r>
            <a:endParaRPr lang="en-AU" dirty="0"/>
          </a:p>
        </p:txBody>
      </p:sp>
      <p:sp>
        <p:nvSpPr>
          <p:cNvPr id="3" name="Content Placeholder 2">
            <a:extLst>
              <a:ext uri="{FF2B5EF4-FFF2-40B4-BE49-F238E27FC236}">
                <a16:creationId xmlns:a16="http://schemas.microsoft.com/office/drawing/2014/main" id="{1B6EE5C4-049A-060A-6604-DB1DCF2A7AE8}"/>
              </a:ext>
            </a:extLst>
          </p:cNvPr>
          <p:cNvSpPr>
            <a:spLocks noGrp="1"/>
          </p:cNvSpPr>
          <p:nvPr>
            <p:ph sz="quarter" idx="10"/>
          </p:nvPr>
        </p:nvSpPr>
        <p:spPr>
          <a:xfrm>
            <a:off x="539495" y="1435607"/>
            <a:ext cx="8781787" cy="4164003"/>
          </a:xfrm>
        </p:spPr>
        <p:txBody>
          <a:bodyPr>
            <a:normAutofit/>
          </a:bodyPr>
          <a:lstStyle/>
          <a:p>
            <a:r>
              <a:rPr lang="en-GB" dirty="0"/>
              <a:t>Data consist of 2 tables, with information on aggregate of sales in 15 minutes interval during April. </a:t>
            </a:r>
          </a:p>
          <a:p>
            <a:pPr marL="171450" indent="-171450">
              <a:buFontTx/>
              <a:buChar char="-"/>
            </a:pPr>
            <a:r>
              <a:rPr lang="en-GB" dirty="0"/>
              <a:t>Table 1 consist of each sales within the 15 minutes interval across different channels of sales e.g. Delivery, Drive thru etc.</a:t>
            </a:r>
          </a:p>
          <a:p>
            <a:pPr marL="171450" indent="-171450">
              <a:buFontTx/>
              <a:buChar char="-"/>
            </a:pPr>
            <a:r>
              <a:rPr lang="en-GB" dirty="0"/>
              <a:t>Table 2 consist of the cut of sales on the 8</a:t>
            </a:r>
            <a:r>
              <a:rPr lang="en-GB" baseline="30000" dirty="0"/>
              <a:t>th</a:t>
            </a:r>
            <a:r>
              <a:rPr lang="en-GB" dirty="0"/>
              <a:t> and 15</a:t>
            </a:r>
            <a:r>
              <a:rPr lang="en-GB" baseline="30000" dirty="0"/>
              <a:t>th</a:t>
            </a:r>
            <a:r>
              <a:rPr lang="en-GB" dirty="0"/>
              <a:t> April for a specific time window by various payment types and sales channel by store code.</a:t>
            </a:r>
          </a:p>
        </p:txBody>
      </p:sp>
      <p:pic>
        <p:nvPicPr>
          <p:cNvPr id="6" name="Picture 5">
            <a:extLst>
              <a:ext uri="{FF2B5EF4-FFF2-40B4-BE49-F238E27FC236}">
                <a16:creationId xmlns:a16="http://schemas.microsoft.com/office/drawing/2014/main" id="{A27635C6-B78D-5A84-168A-6A08CD6AD03C}"/>
              </a:ext>
            </a:extLst>
          </p:cNvPr>
          <p:cNvPicPr>
            <a:picLocks noChangeAspect="1"/>
          </p:cNvPicPr>
          <p:nvPr/>
        </p:nvPicPr>
        <p:blipFill>
          <a:blip r:embed="rId2"/>
          <a:stretch>
            <a:fillRect/>
          </a:stretch>
        </p:blipFill>
        <p:spPr>
          <a:xfrm>
            <a:off x="6861041" y="2991124"/>
            <a:ext cx="4791464" cy="3418820"/>
          </a:xfrm>
          <a:prstGeom prst="rect">
            <a:avLst/>
          </a:prstGeom>
        </p:spPr>
      </p:pic>
    </p:spTree>
    <p:extLst>
      <p:ext uri="{BB962C8B-B14F-4D97-AF65-F5344CB8AC3E}">
        <p14:creationId xmlns:p14="http://schemas.microsoft.com/office/powerpoint/2010/main" val="1395686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2ADBD-F015-ABF1-422F-022E38617659}"/>
              </a:ext>
            </a:extLst>
          </p:cNvPr>
          <p:cNvSpPr>
            <a:spLocks noGrp="1"/>
          </p:cNvSpPr>
          <p:nvPr>
            <p:ph type="title"/>
          </p:nvPr>
        </p:nvSpPr>
        <p:spPr>
          <a:xfrm>
            <a:off x="521207" y="448056"/>
            <a:ext cx="8838453" cy="640080"/>
          </a:xfrm>
        </p:spPr>
        <p:txBody>
          <a:bodyPr>
            <a:normAutofit/>
          </a:bodyPr>
          <a:lstStyle/>
          <a:p>
            <a:r>
              <a:rPr lang="en-GB" dirty="0"/>
              <a:t>Data Transformation</a:t>
            </a:r>
            <a:endParaRPr lang="en-AU" dirty="0"/>
          </a:p>
        </p:txBody>
      </p:sp>
      <p:sp>
        <p:nvSpPr>
          <p:cNvPr id="3" name="Content Placeholder 2">
            <a:extLst>
              <a:ext uri="{FF2B5EF4-FFF2-40B4-BE49-F238E27FC236}">
                <a16:creationId xmlns:a16="http://schemas.microsoft.com/office/drawing/2014/main" id="{F98F4B3E-B268-2811-7CC6-0CA91075B9BD}"/>
              </a:ext>
            </a:extLst>
          </p:cNvPr>
          <p:cNvSpPr>
            <a:spLocks noGrp="1"/>
          </p:cNvSpPr>
          <p:nvPr>
            <p:ph sz="quarter" idx="10"/>
          </p:nvPr>
        </p:nvSpPr>
        <p:spPr>
          <a:xfrm>
            <a:off x="539496" y="1435608"/>
            <a:ext cx="11093868" cy="3063240"/>
          </a:xfrm>
        </p:spPr>
        <p:txBody>
          <a:bodyPr>
            <a:normAutofit/>
          </a:bodyPr>
          <a:lstStyle/>
          <a:p>
            <a:r>
              <a:rPr lang="en-GB" dirty="0"/>
              <a:t>The data is extended and manipulate to easily carry out the analysis and find insights, the manipulation and transform consist of :</a:t>
            </a:r>
          </a:p>
          <a:p>
            <a:pPr marL="171450" indent="-171450">
              <a:buFontTx/>
              <a:buChar char="-"/>
            </a:pPr>
            <a:r>
              <a:rPr lang="en-GB" dirty="0"/>
              <a:t>Break down of date to different weeks of the month and days of the week in April </a:t>
            </a:r>
          </a:p>
          <a:p>
            <a:pPr marL="171450" indent="-171450">
              <a:buFontTx/>
              <a:buChar char="-"/>
            </a:pPr>
            <a:r>
              <a:rPr lang="en-GB" dirty="0"/>
              <a:t>The 15 minute interval been broken down to two columns.</a:t>
            </a:r>
          </a:p>
          <a:p>
            <a:pPr marL="171450" indent="-171450">
              <a:buFontTx/>
              <a:buChar char="-"/>
            </a:pPr>
            <a:r>
              <a:rPr lang="en-GB" dirty="0"/>
              <a:t>Grouping payments types and bin net sales, to help easily visualise the results and impact. </a:t>
            </a:r>
          </a:p>
          <a:p>
            <a:pPr marL="228600" indent="-228600">
              <a:lnSpc>
                <a:spcPct val="100000"/>
              </a:lnSpc>
              <a:spcBef>
                <a:spcPts val="0"/>
              </a:spcBef>
              <a:spcAft>
                <a:spcPts val="0"/>
              </a:spcAft>
              <a:buFont typeface="+mj-lt"/>
              <a:buAutoNum type="arabicPeriod"/>
            </a:pPr>
            <a:endParaRPr lang="en-GB" dirty="0"/>
          </a:p>
        </p:txBody>
      </p:sp>
      <p:pic>
        <p:nvPicPr>
          <p:cNvPr id="6" name="Picture 5">
            <a:extLst>
              <a:ext uri="{FF2B5EF4-FFF2-40B4-BE49-F238E27FC236}">
                <a16:creationId xmlns:a16="http://schemas.microsoft.com/office/drawing/2014/main" id="{9B93F44D-62FF-75B7-88EC-41D85F119B18}"/>
              </a:ext>
            </a:extLst>
          </p:cNvPr>
          <p:cNvPicPr>
            <a:picLocks noChangeAspect="1"/>
          </p:cNvPicPr>
          <p:nvPr/>
        </p:nvPicPr>
        <p:blipFill>
          <a:blip r:embed="rId2"/>
          <a:stretch>
            <a:fillRect/>
          </a:stretch>
        </p:blipFill>
        <p:spPr>
          <a:xfrm>
            <a:off x="7487204" y="3092162"/>
            <a:ext cx="4058252" cy="3385418"/>
          </a:xfrm>
          <a:prstGeom prst="rect">
            <a:avLst/>
          </a:prstGeom>
        </p:spPr>
      </p:pic>
    </p:spTree>
    <p:extLst>
      <p:ext uri="{BB962C8B-B14F-4D97-AF65-F5344CB8AC3E}">
        <p14:creationId xmlns:p14="http://schemas.microsoft.com/office/powerpoint/2010/main" val="1686162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C0D49-259A-D7D9-8C8E-527EFF156274}"/>
              </a:ext>
            </a:extLst>
          </p:cNvPr>
          <p:cNvSpPr>
            <a:spLocks noGrp="1"/>
          </p:cNvSpPr>
          <p:nvPr>
            <p:ph type="title"/>
          </p:nvPr>
        </p:nvSpPr>
        <p:spPr/>
        <p:txBody>
          <a:bodyPr/>
          <a:lstStyle/>
          <a:p>
            <a:r>
              <a:rPr lang="en-GB" dirty="0"/>
              <a:t>Overview Insights</a:t>
            </a:r>
            <a:endParaRPr lang="en-AU" dirty="0"/>
          </a:p>
        </p:txBody>
      </p:sp>
      <p:sp>
        <p:nvSpPr>
          <p:cNvPr id="3" name="Content Placeholder 2">
            <a:extLst>
              <a:ext uri="{FF2B5EF4-FFF2-40B4-BE49-F238E27FC236}">
                <a16:creationId xmlns:a16="http://schemas.microsoft.com/office/drawing/2014/main" id="{FD7F8FE5-B5BB-5389-C0B4-9D3363380EF2}"/>
              </a:ext>
            </a:extLst>
          </p:cNvPr>
          <p:cNvSpPr>
            <a:spLocks noGrp="1"/>
          </p:cNvSpPr>
          <p:nvPr>
            <p:ph sz="quarter" idx="10"/>
          </p:nvPr>
        </p:nvSpPr>
        <p:spPr>
          <a:xfrm>
            <a:off x="539496" y="1435608"/>
            <a:ext cx="11146536" cy="5058498"/>
          </a:xfrm>
        </p:spPr>
        <p:txBody>
          <a:bodyPr>
            <a:normAutofit/>
          </a:bodyPr>
          <a:lstStyle/>
          <a:p>
            <a:pPr marL="171450" indent="-171450">
              <a:buFontTx/>
              <a:buChar char="-"/>
            </a:pPr>
            <a:r>
              <a:rPr lang="en-GB" dirty="0"/>
              <a:t>Given the context of the scenario you would need to analyse how the effect of network outages affect McDonald’s sales performance. </a:t>
            </a:r>
          </a:p>
          <a:p>
            <a:pPr marL="171450" indent="-171450">
              <a:buFontTx/>
              <a:buChar char="-"/>
            </a:pPr>
            <a:r>
              <a:rPr lang="en-GB" dirty="0"/>
              <a:t>The cost of the incident happens on the 15/04/2022, between 9:15pm to 4am, which falls on a Friday. </a:t>
            </a:r>
          </a:p>
          <a:p>
            <a:pPr marL="171450" indent="-171450">
              <a:buFontTx/>
              <a:buChar char="-"/>
            </a:pPr>
            <a:r>
              <a:rPr lang="en-GB" dirty="0"/>
              <a:t>At 12am midnight, we know that it carries over to 16/04/2022 and have noticed that the sum of sales, cash and EFTPOS does not change much the outage.</a:t>
            </a:r>
          </a:p>
          <a:p>
            <a:pPr marL="171450" indent="-171450">
              <a:buFontTx/>
              <a:buChar char="-"/>
            </a:pPr>
            <a:r>
              <a:rPr lang="en-GB" dirty="0"/>
              <a:t>This can be deduce that the system might have a cut off period where it refreshes the information overnight and might consider the business information from 12am to 4am to be part of 15/04/2022.</a:t>
            </a:r>
          </a:p>
          <a:p>
            <a:pPr marL="171450" indent="-171450">
              <a:buFontTx/>
              <a:buChar char="-"/>
            </a:pPr>
            <a:r>
              <a:rPr lang="en-GB" dirty="0"/>
              <a:t>We can see that the change at 12am to 4am on the 15/04/2022 in EFTPOS and Cash sales on the data. </a:t>
            </a:r>
          </a:p>
        </p:txBody>
      </p:sp>
      <p:pic>
        <p:nvPicPr>
          <p:cNvPr id="5" name="Picture 4">
            <a:extLst>
              <a:ext uri="{FF2B5EF4-FFF2-40B4-BE49-F238E27FC236}">
                <a16:creationId xmlns:a16="http://schemas.microsoft.com/office/drawing/2014/main" id="{75D005D3-F346-D5F5-51FE-37D2749FD803}"/>
              </a:ext>
            </a:extLst>
          </p:cNvPr>
          <p:cNvPicPr>
            <a:picLocks noChangeAspect="1"/>
          </p:cNvPicPr>
          <p:nvPr/>
        </p:nvPicPr>
        <p:blipFill>
          <a:blip r:embed="rId2"/>
          <a:stretch>
            <a:fillRect/>
          </a:stretch>
        </p:blipFill>
        <p:spPr>
          <a:xfrm>
            <a:off x="1377696" y="4659544"/>
            <a:ext cx="9436608" cy="1688258"/>
          </a:xfrm>
          <a:prstGeom prst="rect">
            <a:avLst/>
          </a:prstGeom>
        </p:spPr>
      </p:pic>
      <p:sp>
        <p:nvSpPr>
          <p:cNvPr id="4" name="Rectangle 3">
            <a:extLst>
              <a:ext uri="{FF2B5EF4-FFF2-40B4-BE49-F238E27FC236}">
                <a16:creationId xmlns:a16="http://schemas.microsoft.com/office/drawing/2014/main" id="{044EE8C1-6281-4F18-43DF-A94D042606D3}"/>
              </a:ext>
            </a:extLst>
          </p:cNvPr>
          <p:cNvSpPr/>
          <p:nvPr/>
        </p:nvSpPr>
        <p:spPr>
          <a:xfrm>
            <a:off x="1377696" y="4784651"/>
            <a:ext cx="4502109" cy="162529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996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C0D49-259A-D7D9-8C8E-527EFF156274}"/>
              </a:ext>
            </a:extLst>
          </p:cNvPr>
          <p:cNvSpPr>
            <a:spLocks noGrp="1"/>
          </p:cNvSpPr>
          <p:nvPr>
            <p:ph type="title"/>
          </p:nvPr>
        </p:nvSpPr>
        <p:spPr/>
        <p:txBody>
          <a:bodyPr/>
          <a:lstStyle/>
          <a:p>
            <a:r>
              <a:rPr lang="en-GB" dirty="0"/>
              <a:t>Overview Insights</a:t>
            </a:r>
            <a:endParaRPr lang="en-AU" dirty="0"/>
          </a:p>
        </p:txBody>
      </p:sp>
      <p:sp>
        <p:nvSpPr>
          <p:cNvPr id="3" name="Content Placeholder 2">
            <a:extLst>
              <a:ext uri="{FF2B5EF4-FFF2-40B4-BE49-F238E27FC236}">
                <a16:creationId xmlns:a16="http://schemas.microsoft.com/office/drawing/2014/main" id="{FD7F8FE5-B5BB-5389-C0B4-9D3363380EF2}"/>
              </a:ext>
            </a:extLst>
          </p:cNvPr>
          <p:cNvSpPr>
            <a:spLocks noGrp="1"/>
          </p:cNvSpPr>
          <p:nvPr>
            <p:ph sz="quarter" idx="10"/>
          </p:nvPr>
        </p:nvSpPr>
        <p:spPr>
          <a:xfrm>
            <a:off x="539496" y="1435608"/>
            <a:ext cx="4416552" cy="5058498"/>
          </a:xfrm>
        </p:spPr>
        <p:txBody>
          <a:bodyPr>
            <a:normAutofit fontScale="92500" lnSpcReduction="10000"/>
          </a:bodyPr>
          <a:lstStyle/>
          <a:p>
            <a:pPr marL="171450" indent="-171450">
              <a:buFontTx/>
              <a:buChar char="-"/>
            </a:pPr>
            <a:r>
              <a:rPr lang="en-GB" dirty="0"/>
              <a:t>Given the context of the scenario you would need to analyse how the effect of network breakdown affect McDonald’s sales performance. </a:t>
            </a:r>
          </a:p>
          <a:p>
            <a:pPr marL="171450" indent="-171450">
              <a:buFontTx/>
              <a:buChar char="-"/>
            </a:pPr>
            <a:r>
              <a:rPr lang="en-GB" dirty="0"/>
              <a:t>The incident happens on the 15/04/2022, between 9:15pm to 4am, which falls on a Friday. </a:t>
            </a:r>
          </a:p>
          <a:p>
            <a:pPr marL="171450" indent="-171450">
              <a:buFontTx/>
              <a:buChar char="-"/>
            </a:pPr>
            <a:r>
              <a:rPr lang="en-GB" dirty="0"/>
              <a:t>By filtering based on the conditions above to focus on the problem at task, the x-axis are filtered to represent every Friday of the week between 9:15pm to 4am. </a:t>
            </a:r>
          </a:p>
          <a:p>
            <a:pPr marL="171450" indent="-171450">
              <a:buFontTx/>
              <a:buChar char="-"/>
            </a:pPr>
            <a:r>
              <a:rPr lang="en-GB" dirty="0"/>
              <a:t>We can observed a significant decline in the EFTPOS sales and an increase of CASH sales for an approximate 50% from week 2 to week 3, this shows that the network outage for bank X affect the EFTPOS sales. </a:t>
            </a:r>
          </a:p>
          <a:p>
            <a:pPr marL="171450" indent="-171450">
              <a:buFontTx/>
              <a:buChar char="-"/>
            </a:pPr>
            <a:r>
              <a:rPr lang="en-GB" dirty="0"/>
              <a:t>Overall on the total sales, there isn’t much impact to the overall business, as from the 2</a:t>
            </a:r>
            <a:r>
              <a:rPr lang="en-GB" baseline="30000" dirty="0"/>
              <a:t>nd</a:t>
            </a:r>
            <a:r>
              <a:rPr lang="en-GB" dirty="0"/>
              <a:t> to 3</a:t>
            </a:r>
            <a:r>
              <a:rPr lang="en-GB" baseline="30000" dirty="0"/>
              <a:t>rd</a:t>
            </a:r>
            <a:r>
              <a:rPr lang="en-GB" dirty="0"/>
              <a:t> week there is a small decline of approx. 5.5% of sales drop, while on the 4</a:t>
            </a:r>
            <a:r>
              <a:rPr lang="en-GB" baseline="30000" dirty="0"/>
              <a:t>th</a:t>
            </a:r>
            <a:r>
              <a:rPr lang="en-GB" dirty="0"/>
              <a:t> week there is a 11% increase from the 3</a:t>
            </a:r>
            <a:r>
              <a:rPr lang="en-GB" baseline="30000" dirty="0"/>
              <a:t>rd</a:t>
            </a:r>
            <a:r>
              <a:rPr lang="en-GB" dirty="0"/>
              <a:t> week. </a:t>
            </a:r>
          </a:p>
        </p:txBody>
      </p:sp>
      <p:pic>
        <p:nvPicPr>
          <p:cNvPr id="7" name="Picture 6">
            <a:extLst>
              <a:ext uri="{FF2B5EF4-FFF2-40B4-BE49-F238E27FC236}">
                <a16:creationId xmlns:a16="http://schemas.microsoft.com/office/drawing/2014/main" id="{AD6B616B-EE6A-F24C-C87E-79C08AA84874}"/>
              </a:ext>
            </a:extLst>
          </p:cNvPr>
          <p:cNvPicPr>
            <a:picLocks noChangeAspect="1"/>
          </p:cNvPicPr>
          <p:nvPr/>
        </p:nvPicPr>
        <p:blipFill>
          <a:blip r:embed="rId2"/>
          <a:stretch>
            <a:fillRect/>
          </a:stretch>
        </p:blipFill>
        <p:spPr>
          <a:xfrm>
            <a:off x="4956049" y="1923303"/>
            <a:ext cx="6859562" cy="3873195"/>
          </a:xfrm>
          <a:prstGeom prst="rect">
            <a:avLst/>
          </a:prstGeom>
        </p:spPr>
      </p:pic>
    </p:spTree>
    <p:extLst>
      <p:ext uri="{BB962C8B-B14F-4D97-AF65-F5344CB8AC3E}">
        <p14:creationId xmlns:p14="http://schemas.microsoft.com/office/powerpoint/2010/main" val="4339655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4CA999-6516-3B85-C305-DF988C5B13CD}"/>
              </a:ext>
            </a:extLst>
          </p:cNvPr>
          <p:cNvSpPr>
            <a:spLocks noGrp="1"/>
          </p:cNvSpPr>
          <p:nvPr>
            <p:ph sz="quarter" idx="10"/>
          </p:nvPr>
        </p:nvSpPr>
        <p:spPr>
          <a:xfrm>
            <a:off x="539496" y="1435608"/>
            <a:ext cx="11105108" cy="1974723"/>
          </a:xfrm>
        </p:spPr>
        <p:txBody>
          <a:bodyPr>
            <a:normAutofit/>
          </a:bodyPr>
          <a:lstStyle/>
          <a:p>
            <a:pPr marL="171450" indent="-171450">
              <a:buFontTx/>
              <a:buChar char="-"/>
            </a:pPr>
            <a:r>
              <a:rPr lang="en-GB" dirty="0"/>
              <a:t>A time series line graph is shown between the two EFTPOS sales and CASH sales to understand the peak time the incident occur during the outage. </a:t>
            </a:r>
          </a:p>
          <a:p>
            <a:pPr marL="171450" indent="-171450">
              <a:buFontTx/>
              <a:buChar char="-"/>
            </a:pPr>
            <a:r>
              <a:rPr lang="en-GB" dirty="0"/>
              <a:t>We can confirm that at 9:15pm we notice a significant drop in sales for EFTPOS, causing the CASH sales to increase in sales sharply. </a:t>
            </a:r>
          </a:p>
          <a:p>
            <a:pPr marL="171450" indent="-171450">
              <a:buFontTx/>
              <a:buChar char="-"/>
            </a:pPr>
            <a:r>
              <a:rPr lang="en-GB" dirty="0"/>
              <a:t>The incident ended at 3:45am to 4am where we can see that EFTPOS sales increase back to normalisation, indicating the Network Outage has been resolve.</a:t>
            </a:r>
          </a:p>
        </p:txBody>
      </p:sp>
      <p:sp>
        <p:nvSpPr>
          <p:cNvPr id="4" name="Title 1">
            <a:extLst>
              <a:ext uri="{FF2B5EF4-FFF2-40B4-BE49-F238E27FC236}">
                <a16:creationId xmlns:a16="http://schemas.microsoft.com/office/drawing/2014/main" id="{BEFB77B6-565B-E659-9B9A-FE8454CB66AF}"/>
              </a:ext>
            </a:extLst>
          </p:cNvPr>
          <p:cNvSpPr>
            <a:spLocks noGrp="1"/>
          </p:cNvSpPr>
          <p:nvPr>
            <p:ph type="title"/>
          </p:nvPr>
        </p:nvSpPr>
        <p:spPr>
          <a:xfrm>
            <a:off x="520699" y="447675"/>
            <a:ext cx="9238597" cy="639763"/>
          </a:xfrm>
        </p:spPr>
        <p:txBody>
          <a:bodyPr>
            <a:normAutofit/>
          </a:bodyPr>
          <a:lstStyle/>
          <a:p>
            <a:r>
              <a:rPr lang="en-GB" dirty="0"/>
              <a:t>Analyse of Peak Time Usage During Network Outage</a:t>
            </a:r>
            <a:endParaRPr lang="en-AU" dirty="0"/>
          </a:p>
        </p:txBody>
      </p:sp>
      <p:pic>
        <p:nvPicPr>
          <p:cNvPr id="8" name="Picture 7">
            <a:extLst>
              <a:ext uri="{FF2B5EF4-FFF2-40B4-BE49-F238E27FC236}">
                <a16:creationId xmlns:a16="http://schemas.microsoft.com/office/drawing/2014/main" id="{60E99AF5-8D8A-6860-CFC6-76CBA9939427}"/>
              </a:ext>
            </a:extLst>
          </p:cNvPr>
          <p:cNvPicPr>
            <a:picLocks noChangeAspect="1"/>
          </p:cNvPicPr>
          <p:nvPr/>
        </p:nvPicPr>
        <p:blipFill>
          <a:blip r:embed="rId2"/>
          <a:stretch>
            <a:fillRect/>
          </a:stretch>
        </p:blipFill>
        <p:spPr>
          <a:xfrm>
            <a:off x="255035" y="3410330"/>
            <a:ext cx="5826675" cy="3177761"/>
          </a:xfrm>
          <a:prstGeom prst="rect">
            <a:avLst/>
          </a:prstGeom>
        </p:spPr>
      </p:pic>
      <p:pic>
        <p:nvPicPr>
          <p:cNvPr id="10" name="Picture 9">
            <a:extLst>
              <a:ext uri="{FF2B5EF4-FFF2-40B4-BE49-F238E27FC236}">
                <a16:creationId xmlns:a16="http://schemas.microsoft.com/office/drawing/2014/main" id="{76F380BB-E64A-F168-01D5-94E6D423A66A}"/>
              </a:ext>
            </a:extLst>
          </p:cNvPr>
          <p:cNvPicPr>
            <a:picLocks noChangeAspect="1"/>
          </p:cNvPicPr>
          <p:nvPr/>
        </p:nvPicPr>
        <p:blipFill>
          <a:blip r:embed="rId3"/>
          <a:stretch>
            <a:fillRect/>
          </a:stretch>
        </p:blipFill>
        <p:spPr>
          <a:xfrm>
            <a:off x="6110291" y="3410331"/>
            <a:ext cx="5829807" cy="3177761"/>
          </a:xfrm>
          <a:prstGeom prst="rect">
            <a:avLst/>
          </a:prstGeom>
        </p:spPr>
      </p:pic>
    </p:spTree>
    <p:extLst>
      <p:ext uri="{BB962C8B-B14F-4D97-AF65-F5344CB8AC3E}">
        <p14:creationId xmlns:p14="http://schemas.microsoft.com/office/powerpoint/2010/main" val="600788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3121C-0B2D-DE53-7586-409E0A693699}"/>
              </a:ext>
            </a:extLst>
          </p:cNvPr>
          <p:cNvSpPr>
            <a:spLocks noGrp="1"/>
          </p:cNvSpPr>
          <p:nvPr>
            <p:ph type="title"/>
          </p:nvPr>
        </p:nvSpPr>
        <p:spPr/>
        <p:txBody>
          <a:bodyPr>
            <a:normAutofit/>
          </a:bodyPr>
          <a:lstStyle/>
          <a:p>
            <a:r>
              <a:rPr lang="en-GB" dirty="0"/>
              <a:t>Impact of the Sales During Network Outage </a:t>
            </a:r>
            <a:endParaRPr lang="en-AU" dirty="0"/>
          </a:p>
        </p:txBody>
      </p:sp>
      <p:sp>
        <p:nvSpPr>
          <p:cNvPr id="3" name="Content Placeholder 2">
            <a:extLst>
              <a:ext uri="{FF2B5EF4-FFF2-40B4-BE49-F238E27FC236}">
                <a16:creationId xmlns:a16="http://schemas.microsoft.com/office/drawing/2014/main" id="{AF4BD7CC-D22B-A4DD-BA0C-9CDF6DD3FDE0}"/>
              </a:ext>
            </a:extLst>
          </p:cNvPr>
          <p:cNvSpPr>
            <a:spLocks noGrp="1"/>
          </p:cNvSpPr>
          <p:nvPr>
            <p:ph sz="quarter" idx="10"/>
          </p:nvPr>
        </p:nvSpPr>
        <p:spPr>
          <a:xfrm>
            <a:off x="521208" y="1440180"/>
            <a:ext cx="5233048" cy="3977640"/>
          </a:xfrm>
        </p:spPr>
        <p:txBody>
          <a:bodyPr/>
          <a:lstStyle/>
          <a:p>
            <a:pPr marL="171450" indent="-171450">
              <a:buFontTx/>
              <a:buChar char="-"/>
            </a:pPr>
            <a:r>
              <a:rPr lang="en-GB" dirty="0"/>
              <a:t>On the second table “Pay type_8-04 &amp; 15-04 night” we can understand how the consumption of Cash and EFTPOS performs during the outage compare to the 8</a:t>
            </a:r>
            <a:r>
              <a:rPr lang="en-GB" baseline="30000" dirty="0"/>
              <a:t>th</a:t>
            </a:r>
            <a:r>
              <a:rPr lang="en-GB" dirty="0"/>
              <a:t> of April on a Friday. </a:t>
            </a:r>
          </a:p>
          <a:p>
            <a:pPr marL="171450" indent="-171450">
              <a:buFontTx/>
              <a:buChar char="-"/>
            </a:pPr>
            <a:r>
              <a:rPr lang="en-GB" dirty="0"/>
              <a:t>We can see overall on Friday 8</a:t>
            </a:r>
            <a:r>
              <a:rPr lang="en-GB" baseline="30000" dirty="0"/>
              <a:t>th</a:t>
            </a:r>
            <a:r>
              <a:rPr lang="en-GB" dirty="0"/>
              <a:t> and 15</a:t>
            </a:r>
            <a:r>
              <a:rPr lang="en-GB" baseline="30000" dirty="0"/>
              <a:t>th</a:t>
            </a:r>
            <a:r>
              <a:rPr lang="en-GB" dirty="0"/>
              <a:t> the use of EFTPOS are most favourable among the public, this is due to the fact that customers prefer cashless payment method.</a:t>
            </a:r>
          </a:p>
          <a:p>
            <a:pPr marL="171450" indent="-171450">
              <a:buFontTx/>
              <a:buChar char="-"/>
            </a:pPr>
            <a:r>
              <a:rPr lang="en-GB" dirty="0"/>
              <a:t>In summary, the median spent of the population during the two days is 7.1 dollars spend per unit of guest count. </a:t>
            </a:r>
          </a:p>
        </p:txBody>
      </p:sp>
      <p:pic>
        <p:nvPicPr>
          <p:cNvPr id="9" name="Picture 8">
            <a:extLst>
              <a:ext uri="{FF2B5EF4-FFF2-40B4-BE49-F238E27FC236}">
                <a16:creationId xmlns:a16="http://schemas.microsoft.com/office/drawing/2014/main" id="{FC6DE296-088F-73B4-B0B0-E8ED11BF734E}"/>
              </a:ext>
            </a:extLst>
          </p:cNvPr>
          <p:cNvPicPr>
            <a:picLocks noChangeAspect="1"/>
          </p:cNvPicPr>
          <p:nvPr/>
        </p:nvPicPr>
        <p:blipFill>
          <a:blip r:embed="rId2"/>
          <a:stretch>
            <a:fillRect/>
          </a:stretch>
        </p:blipFill>
        <p:spPr>
          <a:xfrm>
            <a:off x="5650992" y="1517106"/>
            <a:ext cx="6254677" cy="3900714"/>
          </a:xfrm>
          <a:prstGeom prst="rect">
            <a:avLst/>
          </a:prstGeom>
        </p:spPr>
      </p:pic>
    </p:spTree>
    <p:extLst>
      <p:ext uri="{BB962C8B-B14F-4D97-AF65-F5344CB8AC3E}">
        <p14:creationId xmlns:p14="http://schemas.microsoft.com/office/powerpoint/2010/main" val="39032014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3121C-0B2D-DE53-7586-409E0A693699}"/>
              </a:ext>
            </a:extLst>
          </p:cNvPr>
          <p:cNvSpPr>
            <a:spLocks noGrp="1"/>
          </p:cNvSpPr>
          <p:nvPr>
            <p:ph type="title"/>
          </p:nvPr>
        </p:nvSpPr>
        <p:spPr>
          <a:xfrm>
            <a:off x="521207" y="448056"/>
            <a:ext cx="10876466" cy="640080"/>
          </a:xfrm>
        </p:spPr>
        <p:txBody>
          <a:bodyPr>
            <a:normAutofit/>
          </a:bodyPr>
          <a:lstStyle/>
          <a:p>
            <a:r>
              <a:rPr lang="en-GB" dirty="0"/>
              <a:t>Comparing the Sales during Sales Outages and Normal Operations</a:t>
            </a:r>
            <a:endParaRPr lang="en-AU" dirty="0"/>
          </a:p>
        </p:txBody>
      </p:sp>
      <p:sp>
        <p:nvSpPr>
          <p:cNvPr id="3" name="Content Placeholder 2">
            <a:extLst>
              <a:ext uri="{FF2B5EF4-FFF2-40B4-BE49-F238E27FC236}">
                <a16:creationId xmlns:a16="http://schemas.microsoft.com/office/drawing/2014/main" id="{AF4BD7CC-D22B-A4DD-BA0C-9CDF6DD3FDE0}"/>
              </a:ext>
            </a:extLst>
          </p:cNvPr>
          <p:cNvSpPr>
            <a:spLocks noGrp="1"/>
          </p:cNvSpPr>
          <p:nvPr>
            <p:ph sz="quarter" idx="10"/>
          </p:nvPr>
        </p:nvSpPr>
        <p:spPr>
          <a:xfrm>
            <a:off x="264297" y="5311152"/>
            <a:ext cx="11149584" cy="1023773"/>
          </a:xfrm>
        </p:spPr>
        <p:txBody>
          <a:bodyPr>
            <a:normAutofit fontScale="92500" lnSpcReduction="20000"/>
          </a:bodyPr>
          <a:lstStyle/>
          <a:p>
            <a:pPr marL="171450" indent="-171450">
              <a:buFontTx/>
              <a:buChar char="-"/>
            </a:pPr>
            <a:r>
              <a:rPr lang="en-GB" dirty="0"/>
              <a:t>We can observed the two distribution charts above, the change of distribution of Cash payments and EFTPOS. From left to right chart, we can observed that EFTPOS payments distribution have shifted to the left with from a median of 5.78 to 3.28 dollars per guest.</a:t>
            </a:r>
          </a:p>
          <a:p>
            <a:pPr marL="171450" indent="-171450">
              <a:buFontTx/>
              <a:buChar char="-"/>
            </a:pPr>
            <a:r>
              <a:rPr lang="en-GB" dirty="0"/>
              <a:t>If we calculate the total of Cash and EFTPOS sales median we are losing 0.39 dollars per unit of guest, causing a potential lost on net sales of 21.35K between the two days. </a:t>
            </a:r>
          </a:p>
        </p:txBody>
      </p:sp>
      <p:sp>
        <p:nvSpPr>
          <p:cNvPr id="9" name="TextBox 8">
            <a:extLst>
              <a:ext uri="{FF2B5EF4-FFF2-40B4-BE49-F238E27FC236}">
                <a16:creationId xmlns:a16="http://schemas.microsoft.com/office/drawing/2014/main" id="{DE568313-9671-BD72-AF11-27C1C0D5B251}"/>
              </a:ext>
            </a:extLst>
          </p:cNvPr>
          <p:cNvSpPr txBox="1"/>
          <p:nvPr/>
        </p:nvSpPr>
        <p:spPr>
          <a:xfrm>
            <a:off x="2053263" y="4958975"/>
            <a:ext cx="2216728" cy="276999"/>
          </a:xfrm>
          <a:prstGeom prst="rect">
            <a:avLst/>
          </a:prstGeom>
          <a:noFill/>
        </p:spPr>
        <p:txBody>
          <a:bodyPr wrap="square" rtlCol="0">
            <a:spAutoFit/>
          </a:bodyPr>
          <a:lstStyle/>
          <a:p>
            <a:pPr algn="ctr"/>
            <a:r>
              <a:rPr lang="en-GB" sz="1200" dirty="0"/>
              <a:t>Friday the 8</a:t>
            </a:r>
            <a:r>
              <a:rPr lang="en-GB" sz="1200" baseline="30000" dirty="0"/>
              <a:t>th</a:t>
            </a:r>
            <a:r>
              <a:rPr lang="en-GB" sz="1200" dirty="0"/>
              <a:t> of April Sales</a:t>
            </a:r>
            <a:endParaRPr lang="en-AU" sz="1200" dirty="0"/>
          </a:p>
        </p:txBody>
      </p:sp>
      <p:sp>
        <p:nvSpPr>
          <p:cNvPr id="10" name="TextBox 9">
            <a:extLst>
              <a:ext uri="{FF2B5EF4-FFF2-40B4-BE49-F238E27FC236}">
                <a16:creationId xmlns:a16="http://schemas.microsoft.com/office/drawing/2014/main" id="{04A41CF0-713F-787C-500D-41BE04369CFD}"/>
              </a:ext>
            </a:extLst>
          </p:cNvPr>
          <p:cNvSpPr txBox="1"/>
          <p:nvPr/>
        </p:nvSpPr>
        <p:spPr>
          <a:xfrm>
            <a:off x="8028424" y="4994129"/>
            <a:ext cx="2216728" cy="276999"/>
          </a:xfrm>
          <a:prstGeom prst="rect">
            <a:avLst/>
          </a:prstGeom>
          <a:noFill/>
        </p:spPr>
        <p:txBody>
          <a:bodyPr wrap="square" rtlCol="0">
            <a:spAutoFit/>
          </a:bodyPr>
          <a:lstStyle/>
          <a:p>
            <a:pPr algn="ctr"/>
            <a:r>
              <a:rPr lang="en-GB" sz="1200" dirty="0"/>
              <a:t>Friday the 15</a:t>
            </a:r>
            <a:r>
              <a:rPr lang="en-GB" sz="1200" baseline="30000" dirty="0"/>
              <a:t>th</a:t>
            </a:r>
            <a:r>
              <a:rPr lang="en-GB" sz="1200" dirty="0"/>
              <a:t> of April Sales</a:t>
            </a:r>
            <a:endParaRPr lang="en-AU" sz="1200" dirty="0"/>
          </a:p>
        </p:txBody>
      </p:sp>
      <p:pic>
        <p:nvPicPr>
          <p:cNvPr id="18" name="Picture 17">
            <a:extLst>
              <a:ext uri="{FF2B5EF4-FFF2-40B4-BE49-F238E27FC236}">
                <a16:creationId xmlns:a16="http://schemas.microsoft.com/office/drawing/2014/main" id="{76D91265-8785-2D6A-CB37-BD9D287A6EBB}"/>
              </a:ext>
            </a:extLst>
          </p:cNvPr>
          <p:cNvPicPr>
            <a:picLocks noChangeAspect="1"/>
          </p:cNvPicPr>
          <p:nvPr/>
        </p:nvPicPr>
        <p:blipFill>
          <a:blip r:embed="rId2"/>
          <a:stretch>
            <a:fillRect/>
          </a:stretch>
        </p:blipFill>
        <p:spPr>
          <a:xfrm>
            <a:off x="264297" y="1340281"/>
            <a:ext cx="5794661" cy="3614935"/>
          </a:xfrm>
          <a:prstGeom prst="rect">
            <a:avLst/>
          </a:prstGeom>
        </p:spPr>
      </p:pic>
      <p:pic>
        <p:nvPicPr>
          <p:cNvPr id="22" name="Picture 21">
            <a:extLst>
              <a:ext uri="{FF2B5EF4-FFF2-40B4-BE49-F238E27FC236}">
                <a16:creationId xmlns:a16="http://schemas.microsoft.com/office/drawing/2014/main" id="{730C3B1A-AE55-205F-99FA-AFFA46BAB10E}"/>
              </a:ext>
            </a:extLst>
          </p:cNvPr>
          <p:cNvPicPr>
            <a:picLocks noChangeAspect="1"/>
          </p:cNvPicPr>
          <p:nvPr/>
        </p:nvPicPr>
        <p:blipFill>
          <a:blip r:embed="rId3"/>
          <a:stretch>
            <a:fillRect/>
          </a:stretch>
        </p:blipFill>
        <p:spPr>
          <a:xfrm>
            <a:off x="6101684" y="1339170"/>
            <a:ext cx="5799145" cy="3614935"/>
          </a:xfrm>
          <a:prstGeom prst="rect">
            <a:avLst/>
          </a:prstGeom>
        </p:spPr>
      </p:pic>
    </p:spTree>
    <p:extLst>
      <p:ext uri="{BB962C8B-B14F-4D97-AF65-F5344CB8AC3E}">
        <p14:creationId xmlns:p14="http://schemas.microsoft.com/office/powerpoint/2010/main" val="26175629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C5CA9-63A7-2C90-274E-24F345A8079E}"/>
              </a:ext>
            </a:extLst>
          </p:cNvPr>
          <p:cNvSpPr>
            <a:spLocks noGrp="1"/>
          </p:cNvSpPr>
          <p:nvPr>
            <p:ph type="title"/>
          </p:nvPr>
        </p:nvSpPr>
        <p:spPr>
          <a:xfrm>
            <a:off x="521207" y="448056"/>
            <a:ext cx="9756649" cy="640080"/>
          </a:xfrm>
        </p:spPr>
        <p:txBody>
          <a:bodyPr>
            <a:normAutofit/>
          </a:bodyPr>
          <a:lstStyle/>
          <a:p>
            <a:r>
              <a:rPr lang="en-GB" dirty="0"/>
              <a:t>Strategies to consider to reduce the impact of Network Outages</a:t>
            </a:r>
            <a:endParaRPr lang="en-AU" dirty="0"/>
          </a:p>
        </p:txBody>
      </p:sp>
      <p:sp>
        <p:nvSpPr>
          <p:cNvPr id="3" name="Content Placeholder 2">
            <a:extLst>
              <a:ext uri="{FF2B5EF4-FFF2-40B4-BE49-F238E27FC236}">
                <a16:creationId xmlns:a16="http://schemas.microsoft.com/office/drawing/2014/main" id="{9DB7C21D-255E-A3C9-00BD-A0CCCAC93BE7}"/>
              </a:ext>
            </a:extLst>
          </p:cNvPr>
          <p:cNvSpPr>
            <a:spLocks noGrp="1"/>
          </p:cNvSpPr>
          <p:nvPr>
            <p:ph sz="quarter" idx="10"/>
          </p:nvPr>
        </p:nvSpPr>
        <p:spPr/>
        <p:txBody>
          <a:bodyPr/>
          <a:lstStyle/>
          <a:p>
            <a:pPr marL="171450" indent="-171450">
              <a:buFontTx/>
              <a:buChar char="-"/>
            </a:pPr>
            <a:r>
              <a:rPr lang="en-GB" dirty="0"/>
              <a:t>Strategies to consider to reduce the impact is to look at other channels of payment methods.</a:t>
            </a:r>
          </a:p>
          <a:p>
            <a:pPr marL="171450" indent="-171450">
              <a:buFontTx/>
              <a:buChar char="-"/>
            </a:pPr>
            <a:r>
              <a:rPr lang="en-GB" dirty="0"/>
              <a:t>We can see that although EFTPOS sales has been decreased between the 8</a:t>
            </a:r>
            <a:r>
              <a:rPr lang="en-GB" baseline="30000" dirty="0"/>
              <a:t>th</a:t>
            </a:r>
            <a:r>
              <a:rPr lang="en-GB" dirty="0"/>
              <a:t> and 15</a:t>
            </a:r>
            <a:r>
              <a:rPr lang="en-GB" baseline="30000" dirty="0"/>
              <a:t>th</a:t>
            </a:r>
            <a:r>
              <a:rPr lang="en-GB" dirty="0"/>
              <a:t> of April, other channels like In-App payment and delivery have increase slightly.</a:t>
            </a:r>
          </a:p>
          <a:p>
            <a:pPr marL="171450" indent="-171450">
              <a:buFontTx/>
              <a:buChar char="-"/>
            </a:pPr>
            <a:r>
              <a:rPr lang="en-GB" dirty="0"/>
              <a:t>Promoting or encouraging more customers to use the In-App payment or deliveries may reduce the impact of sales, as the network outages may only be specific on a specific network, and customers may have other alternative to make payment for food. </a:t>
            </a:r>
            <a:endParaRPr lang="en-AU" dirty="0"/>
          </a:p>
        </p:txBody>
      </p:sp>
      <p:pic>
        <p:nvPicPr>
          <p:cNvPr id="5" name="Picture 4">
            <a:extLst>
              <a:ext uri="{FF2B5EF4-FFF2-40B4-BE49-F238E27FC236}">
                <a16:creationId xmlns:a16="http://schemas.microsoft.com/office/drawing/2014/main" id="{06D60DCD-44A4-9BF6-771D-F72063E8AE84}"/>
              </a:ext>
            </a:extLst>
          </p:cNvPr>
          <p:cNvPicPr>
            <a:picLocks noChangeAspect="1"/>
          </p:cNvPicPr>
          <p:nvPr/>
        </p:nvPicPr>
        <p:blipFill>
          <a:blip r:embed="rId2"/>
          <a:stretch>
            <a:fillRect/>
          </a:stretch>
        </p:blipFill>
        <p:spPr>
          <a:xfrm>
            <a:off x="5220950" y="1435608"/>
            <a:ext cx="6431554" cy="4069253"/>
          </a:xfrm>
          <a:prstGeom prst="rect">
            <a:avLst/>
          </a:prstGeom>
        </p:spPr>
      </p:pic>
    </p:spTree>
    <p:extLst>
      <p:ext uri="{BB962C8B-B14F-4D97-AF65-F5344CB8AC3E}">
        <p14:creationId xmlns:p14="http://schemas.microsoft.com/office/powerpoint/2010/main" val="3916426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1B295-F38C-3C1C-2CD4-1BF78905B748}"/>
              </a:ext>
            </a:extLst>
          </p:cNvPr>
          <p:cNvSpPr>
            <a:spLocks noGrp="1"/>
          </p:cNvSpPr>
          <p:nvPr>
            <p:ph type="title"/>
          </p:nvPr>
        </p:nvSpPr>
        <p:spPr>
          <a:xfrm>
            <a:off x="521207" y="448056"/>
            <a:ext cx="9422893" cy="640080"/>
          </a:xfrm>
        </p:spPr>
        <p:txBody>
          <a:bodyPr>
            <a:normAutofit/>
          </a:bodyPr>
          <a:lstStyle/>
          <a:p>
            <a:r>
              <a:rPr lang="en-GB" dirty="0"/>
              <a:t>Any other recommendation to consider &amp; Challenges</a:t>
            </a:r>
            <a:endParaRPr lang="en-AU" dirty="0"/>
          </a:p>
        </p:txBody>
      </p:sp>
      <p:sp>
        <p:nvSpPr>
          <p:cNvPr id="3" name="Content Placeholder 2">
            <a:extLst>
              <a:ext uri="{FF2B5EF4-FFF2-40B4-BE49-F238E27FC236}">
                <a16:creationId xmlns:a16="http://schemas.microsoft.com/office/drawing/2014/main" id="{AAC0C35F-5E64-AA61-EE1D-3DCDA1FE6639}"/>
              </a:ext>
            </a:extLst>
          </p:cNvPr>
          <p:cNvSpPr>
            <a:spLocks noGrp="1"/>
          </p:cNvSpPr>
          <p:nvPr>
            <p:ph sz="quarter" idx="10"/>
          </p:nvPr>
        </p:nvSpPr>
        <p:spPr>
          <a:xfrm>
            <a:off x="539495" y="1435608"/>
            <a:ext cx="11095155" cy="3977640"/>
          </a:xfrm>
        </p:spPr>
        <p:txBody>
          <a:bodyPr>
            <a:normAutofit/>
          </a:bodyPr>
          <a:lstStyle/>
          <a:p>
            <a:r>
              <a:rPr lang="en-GB" dirty="0"/>
              <a:t>Recommendation to consider for the analysis to improve insights can be considered by the following:</a:t>
            </a:r>
          </a:p>
          <a:p>
            <a:pPr marL="171450" indent="-171450">
              <a:buFontTx/>
              <a:buChar char="-"/>
            </a:pPr>
            <a:r>
              <a:rPr lang="en-GB" dirty="0"/>
              <a:t>Adding meal items to the datasets to understand purchasing behaviour of customers during the outages.</a:t>
            </a:r>
          </a:p>
          <a:p>
            <a:pPr marL="171450" indent="-171450">
              <a:buFontTx/>
              <a:buChar char="-"/>
            </a:pPr>
            <a:r>
              <a:rPr lang="en-GB" dirty="0"/>
              <a:t>Location features to understand which stores have given an impact to the sales of the network outages.</a:t>
            </a:r>
          </a:p>
          <a:p>
            <a:pPr marL="171450" indent="-171450">
              <a:buFontTx/>
              <a:buChar char="-"/>
            </a:pPr>
            <a:r>
              <a:rPr lang="en-GB" dirty="0"/>
              <a:t>More historical data, of network outage or different accidents that has occurred historically to analyse the accidents and what precautions has been taken to minimize the risk of impact.</a:t>
            </a:r>
          </a:p>
          <a:p>
            <a:pPr marL="171450" indent="-171450">
              <a:buFontTx/>
              <a:buChar char="-"/>
            </a:pPr>
            <a:endParaRPr lang="en-GB" dirty="0"/>
          </a:p>
        </p:txBody>
      </p:sp>
    </p:spTree>
    <p:extLst>
      <p:ext uri="{BB962C8B-B14F-4D97-AF65-F5344CB8AC3E}">
        <p14:creationId xmlns:p14="http://schemas.microsoft.com/office/powerpoint/2010/main" val="29893102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B2943-900D-B75E-F381-D443F380F4AF}"/>
              </a:ext>
            </a:extLst>
          </p:cNvPr>
          <p:cNvSpPr>
            <a:spLocks noGrp="1"/>
          </p:cNvSpPr>
          <p:nvPr>
            <p:ph type="title"/>
          </p:nvPr>
        </p:nvSpPr>
        <p:spPr/>
        <p:txBody>
          <a:bodyPr/>
          <a:lstStyle/>
          <a:p>
            <a:r>
              <a:rPr lang="en-GB" dirty="0"/>
              <a:t>Summary to the Key Stake Holders</a:t>
            </a:r>
            <a:endParaRPr lang="en-AU" dirty="0"/>
          </a:p>
        </p:txBody>
      </p:sp>
      <p:sp>
        <p:nvSpPr>
          <p:cNvPr id="3" name="Content Placeholder 2">
            <a:extLst>
              <a:ext uri="{FF2B5EF4-FFF2-40B4-BE49-F238E27FC236}">
                <a16:creationId xmlns:a16="http://schemas.microsoft.com/office/drawing/2014/main" id="{C5F2061C-A9A1-05CF-327E-E493A05078CC}"/>
              </a:ext>
            </a:extLst>
          </p:cNvPr>
          <p:cNvSpPr>
            <a:spLocks noGrp="1"/>
          </p:cNvSpPr>
          <p:nvPr>
            <p:ph sz="quarter" idx="10"/>
          </p:nvPr>
        </p:nvSpPr>
        <p:spPr>
          <a:xfrm>
            <a:off x="521207" y="1440180"/>
            <a:ext cx="11060321" cy="3977640"/>
          </a:xfrm>
        </p:spPr>
        <p:txBody>
          <a:bodyPr>
            <a:normAutofit/>
          </a:bodyPr>
          <a:lstStyle/>
          <a:p>
            <a:pPr marL="171450" indent="-171450">
              <a:buFontTx/>
              <a:buChar char="-"/>
            </a:pPr>
            <a:r>
              <a:rPr lang="en-GB" dirty="0"/>
              <a:t>Overall, the impact of total sales are not huge and this can be taken account the affects of trends and seasonality of sales. </a:t>
            </a:r>
          </a:p>
          <a:p>
            <a:pPr marL="171450" indent="-171450">
              <a:buFontTx/>
              <a:buChar char="-"/>
            </a:pPr>
            <a:r>
              <a:rPr lang="en-GB" dirty="0"/>
              <a:t>We can know that the network outages has an affect to the payment of EFTPOS systems.</a:t>
            </a:r>
          </a:p>
          <a:p>
            <a:pPr marL="171450" indent="-171450">
              <a:buFontTx/>
              <a:buChar char="-"/>
            </a:pPr>
            <a:r>
              <a:rPr lang="en-GB" dirty="0"/>
              <a:t>The impact of sales between cash and EFTPOS are vice versa, usually population prefers for cashless payments, however when network outages occur they will still resort to using cash payments, but the amount of spending per unit will slightly decrease.</a:t>
            </a:r>
          </a:p>
          <a:p>
            <a:pPr marL="171450" indent="-171450">
              <a:buFontTx/>
              <a:buChar char="-"/>
            </a:pPr>
            <a:r>
              <a:rPr lang="en-GB" dirty="0"/>
              <a:t>Other alternative of payment methods can be promoted, such as more promotion on the Macca’s app to encourage users to use the app for in-app payments for food purchases, or resort with delivery partners to help reducing the impact of sales. </a:t>
            </a:r>
          </a:p>
          <a:p>
            <a:pPr marL="171450" indent="-171450">
              <a:buFontTx/>
              <a:buChar char="-"/>
            </a:pPr>
            <a:endParaRPr lang="en-GB" dirty="0"/>
          </a:p>
          <a:p>
            <a:pPr marL="171450" indent="-171450">
              <a:buFontTx/>
              <a:buChar char="-"/>
            </a:pPr>
            <a:endParaRPr lang="en-GB" dirty="0"/>
          </a:p>
        </p:txBody>
      </p:sp>
    </p:spTree>
    <p:extLst>
      <p:ext uri="{BB962C8B-B14F-4D97-AF65-F5344CB8AC3E}">
        <p14:creationId xmlns:p14="http://schemas.microsoft.com/office/powerpoint/2010/main" val="2960141828"/>
      </p:ext>
    </p:extLst>
  </p:cSld>
  <p:clrMapOvr>
    <a:masterClrMapping/>
  </p:clrMapOvr>
</p:sld>
</file>

<file path=ppt/theme/theme1.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10001108_win32_fixed.potx" id="{9A9BE078-57A7-48B2-9D33-8EFC365D262A}" vid="{66905093-CF97-471D-A25F-2AFDA552169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{51AA3381-FFD2-469E-99C2-FC4B91432A8F}tf10001108_win32</Template>
  <TotalTime>1399</TotalTime>
  <Words>1201</Words>
  <Application>Microsoft Macintosh PowerPoint</Application>
  <PresentationFormat>Widescreen</PresentationFormat>
  <Paragraphs>59</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Segoe UI</vt:lpstr>
      <vt:lpstr>Segoe UI Light</vt:lpstr>
      <vt:lpstr>WelcomeDoc</vt:lpstr>
      <vt:lpstr>McDonald’s Corperation</vt:lpstr>
      <vt:lpstr>Objective</vt:lpstr>
      <vt:lpstr>Data Provided</vt:lpstr>
      <vt:lpstr>Data Transformation</vt:lpstr>
      <vt:lpstr>Overview Insights</vt:lpstr>
      <vt:lpstr>Overview Insights</vt:lpstr>
      <vt:lpstr>Analyse of Peak Time Usage During Network Outage</vt:lpstr>
      <vt:lpstr>Impact of the Sales During Network Outage </vt:lpstr>
      <vt:lpstr>Comparing the Sales during Sales Outages and Normal Operations</vt:lpstr>
      <vt:lpstr>Strategies to consider to reduce the impact of Network Outages</vt:lpstr>
      <vt:lpstr>Any other recommendation to consider &amp; Challenges</vt:lpstr>
      <vt:lpstr>Summary to the Key Stake Holders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Southern Cross Austereo</dc:title>
  <dc:creator>Jun Poh</dc:creator>
  <cp:keywords/>
  <cp:lastModifiedBy>Wei Jun Poh</cp:lastModifiedBy>
  <cp:revision>39</cp:revision>
  <dcterms:created xsi:type="dcterms:W3CDTF">2022-11-18T13:04:23Z</dcterms:created>
  <dcterms:modified xsi:type="dcterms:W3CDTF">2022-11-24T21:15:29Z</dcterms:modified>
  <cp:version/>
</cp:coreProperties>
</file>